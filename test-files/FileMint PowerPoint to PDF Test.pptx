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Monthly conversion volume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PDF conversions</c:v>
                </c:pt>
              </c:strCache>
            </c:strRef>
          </c:tx>
          <c:spPr>
            <a:solidFill>
              <a:srgbClr val="30D3AE"/>
            </a:solidFill>
          </c:spPr>
          <c:cat>
            <c:strRef>
              <c:f>Sheet1!$A$2:$A$6</c:f>
              <c:strCache>
                <c:ptCount val="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</c:v>
                </c:pt>
                <c:pt idx="1">
                  <c:v>57</c:v>
                </c:pt>
                <c:pt idx="2">
                  <c:v>64</c:v>
                </c:pt>
                <c:pt idx="3">
                  <c:v>81</c:v>
                </c:pt>
                <c:pt idx="4">
                  <c:v>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Office conversions</c:v>
                </c:pt>
              </c:strCache>
            </c:strRef>
          </c:tx>
          <c:spPr>
            <a:solidFill>
              <a:srgbClr val="3C7AF5"/>
            </a:solidFill>
          </c:spPr>
          <c:cat>
            <c:strRef>
              <c:f>Sheet1!$A$2:$A$6</c:f>
              <c:strCache>
                <c:ptCount val="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34</c:v>
                </c:pt>
                <c:pt idx="1">
                  <c:v>48</c:v>
                </c:pt>
                <c:pt idx="2">
                  <c:v>58</c:v>
                </c:pt>
                <c:pt idx="3">
                  <c:v>73</c:v>
                </c:pt>
                <c:pt idx="4">
                  <c:v>88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D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005840"/>
            <a:ext cx="78638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4F9FC"/>
                </a:solidFill>
              </a:defRPr>
            </a:pPr>
            <a:r>
              <a:t>PowerPoint to PDF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331720"/>
            <a:ext cx="7132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9CCD7"/>
                </a:solidFill>
              </a:defRPr>
            </a:pPr>
            <a:r>
              <a:t>Checks text, tables, charts, shapes, images, spacing, colors, and page layout.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3337560"/>
            <a:ext cx="1572768" cy="566928"/>
          </a:xfrm>
          <a:prstGeom prst="roundRect">
            <a:avLst/>
          </a:prstGeom>
          <a:solidFill>
            <a:srgbClr val="1E2A35"/>
          </a:solidFill>
          <a:ln>
            <a:solidFill>
              <a:srgbClr val="30D3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4F9FC"/>
                </a:solidFill>
              </a:defRPr>
            </a:pPr>
            <a:r>
              <a:t>Text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15768" y="3337560"/>
            <a:ext cx="1572768" cy="566928"/>
          </a:xfrm>
          <a:prstGeom prst="roundRect">
            <a:avLst/>
          </a:prstGeom>
          <a:solidFill>
            <a:srgbClr val="1E2A35"/>
          </a:solidFill>
          <a:ln>
            <a:solidFill>
              <a:srgbClr val="30D3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4F9FC"/>
                </a:solidFill>
              </a:defRPr>
            </a:pPr>
            <a:r>
              <a:t>Tables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81728" y="3337560"/>
            <a:ext cx="1572768" cy="566928"/>
          </a:xfrm>
          <a:prstGeom prst="roundRect">
            <a:avLst/>
          </a:prstGeom>
          <a:solidFill>
            <a:srgbClr val="1E2A35"/>
          </a:solidFill>
          <a:ln>
            <a:solidFill>
              <a:srgbClr val="30D3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4F9FC"/>
                </a:solidFill>
              </a:defRPr>
            </a:pPr>
            <a:r>
              <a:t>Charts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47688" y="3337560"/>
            <a:ext cx="1572768" cy="566928"/>
          </a:xfrm>
          <a:prstGeom prst="roundRect">
            <a:avLst/>
          </a:prstGeom>
          <a:solidFill>
            <a:srgbClr val="1E2A35"/>
          </a:solidFill>
          <a:ln>
            <a:solidFill>
              <a:srgbClr val="30D3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4F9FC"/>
                </a:solidFill>
              </a:defRPr>
            </a:pPr>
            <a:r>
              <a:t>Images</a:t>
            </a:r>
          </a:p>
        </p:txBody>
      </p:sp>
      <p:pic>
        <p:nvPicPr>
          <p:cNvPr id="9" name="Picture 8" descr="filemint-tes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234440"/>
            <a:ext cx="3063240" cy="17698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1480" y="644652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B7A"/>
                </a:solidFill>
              </a:defRPr>
            </a:pPr>
            <a:r>
              <a:t>FileMint PPTX -&gt; PDF test deck  | 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6858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1F2A"/>
                </a:solidFill>
              </a:defRPr>
            </a:pPr>
            <a:r>
              <a:t>Editable Table Layout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66928" y="1051560"/>
          <a:ext cx="110185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931920"/>
                <a:gridCol w="2057400"/>
                <a:gridCol w="2057400"/>
                <a:gridCol w="2331720"/>
              </a:tblGrid>
              <a:tr h="67056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293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Subject</a:t>
                      </a:r>
                    </a:p>
                  </a:txBody>
                  <a:tcPr>
                    <a:solidFill>
                      <a:srgbClr val="1293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Grade 9</a:t>
                      </a:r>
                    </a:p>
                  </a:txBody>
                  <a:tcPr>
                    <a:solidFill>
                      <a:srgbClr val="1293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Grade 10</a:t>
                      </a:r>
                    </a:p>
                  </a:txBody>
                  <a:tcPr>
                    <a:solidFill>
                      <a:srgbClr val="1293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Grade 11</a:t>
                      </a:r>
                    </a:p>
                  </a:txBody>
                  <a:tcPr>
                    <a:solidFill>
                      <a:srgbClr val="12937D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8263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82632"/>
                          </a:solidFill>
                        </a:defRPr>
                      </a:pPr>
                      <a:r>
                        <a:t>Mathematics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82632"/>
                          </a:solidFill>
                        </a:defRPr>
                      </a:pPr>
                      <a:r>
                        <a:t>5/5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82632"/>
                          </a:solidFill>
                        </a:defRPr>
                      </a:pPr>
                      <a:r>
                        <a:t>5/5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82632"/>
                          </a:solidFill>
                        </a:defRPr>
                      </a:pPr>
                      <a:r>
                        <a:t>9/10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82632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BF3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82632"/>
                          </a:solidFill>
                        </a:defRPr>
                      </a:pPr>
                      <a:r>
                        <a:t>Russian Language</a:t>
                      </a:r>
                    </a:p>
                  </a:txBody>
                  <a:tcPr>
                    <a:solidFill>
                      <a:srgbClr val="EB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82632"/>
                          </a:solidFill>
                        </a:defRPr>
                      </a:pPr>
                      <a:r>
                        <a:t>5/5</a:t>
                      </a:r>
                    </a:p>
                  </a:txBody>
                  <a:tcPr>
                    <a:solidFill>
                      <a:srgbClr val="EB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82632"/>
                          </a:solidFill>
                        </a:defRPr>
                      </a:pPr>
                      <a:r>
                        <a:t>5/5</a:t>
                      </a:r>
                    </a:p>
                  </a:txBody>
                  <a:tcPr>
                    <a:solidFill>
                      <a:srgbClr val="EB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82632"/>
                          </a:solidFill>
                        </a:defRPr>
                      </a:pPr>
                      <a:r>
                        <a:t>9/10</a:t>
                      </a:r>
                    </a:p>
                  </a:txBody>
                  <a:tcPr>
                    <a:solidFill>
                      <a:srgbClr val="EBF3F7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82632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82632"/>
                          </a:solidFill>
                        </a:defRPr>
                      </a:pPr>
                      <a:r>
                        <a:t>English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82632"/>
                          </a:solidFill>
                        </a:defRPr>
                      </a:pPr>
                      <a:r>
                        <a:t>4/5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82632"/>
                          </a:solidFill>
                        </a:defRPr>
                      </a:pPr>
                      <a:r>
                        <a:t>5/5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82632"/>
                          </a:solidFill>
                        </a:defRPr>
                      </a:pPr>
                      <a:r>
                        <a:t>8/10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82632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BF3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82632"/>
                          </a:solidFill>
                        </a:defRPr>
                      </a:pPr>
                      <a:r>
                        <a:t>Computer Science</a:t>
                      </a:r>
                    </a:p>
                  </a:txBody>
                  <a:tcPr>
                    <a:solidFill>
                      <a:srgbClr val="EB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82632"/>
                          </a:solidFill>
                        </a:defRPr>
                      </a:pPr>
                      <a:r>
                        <a:t>5/5</a:t>
                      </a:r>
                    </a:p>
                  </a:txBody>
                  <a:tcPr>
                    <a:solidFill>
                      <a:srgbClr val="EB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82632"/>
                          </a:solidFill>
                        </a:defRPr>
                      </a:pPr>
                      <a:r>
                        <a:t>5/5</a:t>
                      </a:r>
                    </a:p>
                  </a:txBody>
                  <a:tcPr>
                    <a:solidFill>
                      <a:srgbClr val="EB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82632"/>
                          </a:solidFill>
                        </a:defRPr>
                      </a:pPr>
                      <a:r>
                        <a:t>10/10</a:t>
                      </a:r>
                    </a:p>
                  </a:txBody>
                  <a:tcPr>
                    <a:solidFill>
                      <a:srgbClr val="EBF3F7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82632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82632"/>
                          </a:solidFill>
                        </a:defRPr>
                      </a:pPr>
                      <a:r>
                        <a:t>Average Grade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82632"/>
                          </a:solidFill>
                        </a:defRPr>
                      </a:pPr>
                      <a:r>
                        <a:t>4.95/5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82632"/>
                          </a:solidFill>
                        </a:defRPr>
                      </a:pPr>
                      <a:r>
                        <a:t>4.95/5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82632"/>
                          </a:solidFill>
                        </a:defRPr>
                      </a:pPr>
                      <a:r>
                        <a:t>9/10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66928" y="5440680"/>
            <a:ext cx="11018520" cy="594360"/>
          </a:xfrm>
          <a:prstGeom prst="roundRect">
            <a:avLst/>
          </a:prstGeom>
          <a:solidFill>
            <a:srgbClr val="E2FCF5"/>
          </a:solidFill>
          <a:ln>
            <a:solidFill>
              <a:srgbClr val="30D3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C4940"/>
                </a:solidFill>
              </a:defRPr>
            </a:pPr>
            <a:r>
              <a:t>Expected PDF: table borders, cell colors, alignment, and column widths should stay stable.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B7A"/>
                </a:solidFill>
              </a:defRPr>
            </a:pPr>
            <a:r>
              <a:t>FileMint PPTX -&gt; PDF test deck  | 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6858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1F2A"/>
                </a:solidFill>
              </a:defRPr>
            </a:pPr>
            <a:r>
              <a:t>Chart and Shape Fidelity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85800" y="1143000"/>
          <a:ext cx="571500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6995160" y="1143000"/>
            <a:ext cx="4160520" cy="749808"/>
          </a:xfrm>
          <a:prstGeom prst="roundRect">
            <a:avLst/>
          </a:prstGeom>
          <a:solidFill>
            <a:srgbClr val="FFE68B"/>
          </a:solidFill>
          <a:ln>
            <a:solidFill>
              <a:srgbClr val="1D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1F2A"/>
                </a:solidFill>
              </a:defRPr>
            </a:pPr>
            <a:r>
              <a:t>Rounded shape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2286000"/>
            <a:ext cx="4160520" cy="749808"/>
          </a:xfrm>
          <a:prstGeom prst="roundRect">
            <a:avLst/>
          </a:prstGeom>
          <a:solidFill>
            <a:srgbClr val="FFAD77"/>
          </a:solidFill>
          <a:ln>
            <a:solidFill>
              <a:srgbClr val="1D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1F2A"/>
                </a:solidFill>
              </a:defRPr>
            </a:pPr>
            <a:r>
              <a:t>Arrow connector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95160" y="3429000"/>
            <a:ext cx="4160520" cy="749808"/>
          </a:xfrm>
          <a:prstGeom prst="roundRect">
            <a:avLst/>
          </a:prstGeom>
          <a:solidFill>
            <a:srgbClr val="C7D7FF"/>
          </a:solidFill>
          <a:ln>
            <a:solidFill>
              <a:srgbClr val="1D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1F2A"/>
                </a:solidFill>
              </a:defRPr>
            </a:pPr>
            <a:r>
              <a:t>Shadow-like blocks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818120" y="4846320"/>
            <a:ext cx="2560320" cy="594360"/>
          </a:xfrm>
          <a:prstGeom prst="rightArrow">
            <a:avLst/>
          </a:prstGeom>
          <a:solidFill>
            <a:srgbClr val="30D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B7A"/>
                </a:solidFill>
              </a:defRPr>
            </a:pPr>
            <a:r>
              <a:t>FileMint PPTX -&gt; PDF test deck  | 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7680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1F2A"/>
                </a:solidFill>
              </a:defRPr>
            </a:pPr>
            <a:r>
              <a:t>Mixed Text and Formatting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5669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11827"/>
                </a:solidFill>
              </a:defRPr>
            </a:pPr>
            <a:r>
              <a:t>English: This paragraph checks normal text wrapping and spacing.</a:t>
            </a:r>
          </a:p>
          <a:p>
            <a:pPr>
              <a:spcAft>
                <a:spcPts val="1000"/>
              </a:spcAft>
              <a:defRPr sz="1800" b="1">
                <a:solidFill>
                  <a:srgbClr val="1D4ED8"/>
                </a:solidFill>
              </a:defRPr>
            </a:pPr>
            <a:r>
              <a:t>???????: ???????? ????????? ? ??????????????.</a:t>
            </a:r>
          </a:p>
          <a:p>
            <a:pPr>
              <a:spcAft>
                <a:spcPts val="1000"/>
              </a:spcAft>
              <a:defRPr sz="1800" b="0">
                <a:solidFill>
                  <a:srgbClr val="057857"/>
                </a:solidFill>
              </a:defRPr>
            </a:pPr>
            <a:r>
              <a:t>??????: ??????? ??????? ?????? ??? PowerPoint.</a:t>
            </a:r>
          </a:p>
          <a:p>
            <a:pPr>
              <a:spcAft>
                <a:spcPts val="1000"/>
              </a:spcAft>
              <a:defRPr sz="1800" b="0">
                <a:solidFill>
                  <a:srgbClr val="9333EA"/>
                </a:solidFill>
              </a:defRPr>
            </a:pPr>
            <a:r>
              <a:t>??: ???????????</a:t>
            </a:r>
          </a:p>
          <a:p>
            <a:pPr>
              <a:spcAft>
                <a:spcPts val="1000"/>
              </a:spcAft>
              <a:defRPr sz="1800" b="0">
                <a:solidFill>
                  <a:srgbClr val="B91C1C"/>
                </a:solidFill>
              </a:defRPr>
            </a:pPr>
            <a:r>
              <a:t>Arabic: ??????? ??????? ???? ???????.</a:t>
            </a:r>
          </a:p>
        </p:txBody>
      </p:sp>
      <p:pic>
        <p:nvPicPr>
          <p:cNvPr id="4" name="Picture 3" descr="filemint-tes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143000"/>
            <a:ext cx="4389120" cy="25359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4892040"/>
            <a:ext cx="4389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475569"/>
                </a:solidFill>
              </a:defRPr>
            </a:pPr>
            <a:r>
              <a:t>Embedded PNG should remain crisp in PDF.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B7A"/>
                </a:solidFill>
              </a:defRPr>
            </a:pPr>
            <a:r>
              <a:t>FileMint PPTX -&gt; PDF test deck  | 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E1F2A"/>
                </a:solidFill>
              </a:defRPr>
            </a:pPr>
            <a:r>
              <a:t>Conversion Checklist</a:t>
            </a:r>
          </a:p>
        </p:txBody>
      </p:sp>
      <p:sp>
        <p:nvSpPr>
          <p:cNvPr id="3" name="Oval 2"/>
          <p:cNvSpPr/>
          <p:nvPr/>
        </p:nvSpPr>
        <p:spPr>
          <a:xfrm>
            <a:off x="777240" y="1234440"/>
            <a:ext cx="310896" cy="310896"/>
          </a:xfrm>
          <a:prstGeom prst="ellipse">
            <a:avLst/>
          </a:prstGeom>
          <a:solidFill>
            <a:srgbClr val="30D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1188720"/>
            <a:ext cx="86868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82632"/>
                </a:solidFill>
              </a:defRPr>
            </a:pPr>
            <a:r>
              <a:t>Slides keep 16:9 page size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947672"/>
            <a:ext cx="310896" cy="310896"/>
          </a:xfrm>
          <a:prstGeom prst="ellipse">
            <a:avLst/>
          </a:prstGeom>
          <a:solidFill>
            <a:srgbClr val="30D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1901952"/>
            <a:ext cx="86868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82632"/>
                </a:solidFill>
              </a:defRPr>
            </a:pPr>
            <a:r>
              <a:t>Tables do not shift or stretch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660904"/>
            <a:ext cx="310896" cy="310896"/>
          </a:xfrm>
          <a:prstGeom prst="ellipse">
            <a:avLst/>
          </a:prstGeom>
          <a:solidFill>
            <a:srgbClr val="30D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615184"/>
            <a:ext cx="86868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82632"/>
                </a:solidFill>
              </a:defRPr>
            </a:pPr>
            <a:r>
              <a:t>Chart colors and labels remain clear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374136"/>
            <a:ext cx="310896" cy="310896"/>
          </a:xfrm>
          <a:prstGeom prst="ellipse">
            <a:avLst/>
          </a:prstGeom>
          <a:solidFill>
            <a:srgbClr val="30D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328416"/>
            <a:ext cx="86868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82632"/>
                </a:solidFill>
              </a:defRPr>
            </a:pPr>
            <a:r>
              <a:t>Images stay in the same position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087368"/>
            <a:ext cx="310896" cy="310896"/>
          </a:xfrm>
          <a:prstGeom prst="ellipse">
            <a:avLst/>
          </a:prstGeom>
          <a:solidFill>
            <a:srgbClr val="30D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4041648"/>
            <a:ext cx="86868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82632"/>
                </a:solidFill>
              </a:defRPr>
            </a:pPr>
            <a:r>
              <a:t>Mixed scripts render correctly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1417320"/>
            <a:ext cx="3337560" cy="2834640"/>
          </a:xfrm>
          <a:prstGeom prst="roundRect">
            <a:avLst/>
          </a:prstGeom>
          <a:solidFill>
            <a:srgbClr val="0F172A"/>
          </a:solidFill>
          <a:ln>
            <a:solidFill>
              <a:srgbClr val="30D3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FFFFFF"/>
                </a:solidFill>
              </a:defRPr>
            </a:pPr>
            <a:r>
              <a:t>Expected Output</a:t>
            </a:r>
          </a:p>
          <a:p>
            <a:pPr algn="ctr">
              <a:defRPr sz="1500">
                <a:solidFill>
                  <a:srgbClr val="CFFAEE"/>
                </a:solidFill>
              </a:defRPr>
            </a:pPr>
            <a:r>
              <a:t>Clean PDF</a:t>
            </a:r>
          </a:p>
          <a:p>
            <a:pPr algn="ctr">
              <a:defRPr sz="1500">
                <a:solidFill>
                  <a:srgbClr val="CFFAEE"/>
                </a:solidFill>
              </a:defRPr>
            </a:pPr>
            <a:r>
              <a:t>No cropped slides</a:t>
            </a:r>
          </a:p>
          <a:p>
            <a:pPr algn="ctr">
              <a:defRPr sz="1500">
                <a:solidFill>
                  <a:srgbClr val="CFFAEE"/>
                </a:solidFill>
              </a:defRPr>
            </a:pPr>
            <a:r>
              <a:t>Readable tables</a:t>
            </a:r>
          </a:p>
          <a:p>
            <a:pPr algn="ctr">
              <a:defRPr sz="1500">
                <a:solidFill>
                  <a:srgbClr val="CFFAEE"/>
                </a:solidFill>
              </a:defRPr>
            </a:pPr>
            <a:r>
              <a:t>Sharp image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4652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B7A"/>
                </a:solidFill>
              </a:defRPr>
            </a:pPr>
            <a:r>
              <a:t>FileMint PPTX -&gt; PDF test deck  |  Slide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